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754880" cy="4754880"/>
          </a:xfrm>
          <a:prstGeom prst="ellipse">
            <a:avLst/>
          </a:prstGeom>
          <a:solidFill>
            <a:srgbClr val="FF2E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4023360" cy="4023360"/>
          </a:xfrm>
          <a:prstGeom prst="ellipse">
            <a:avLst/>
          </a:prstGeom>
          <a:solidFill>
            <a:srgbClr val="19E3D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840480"/>
            <a:ext cx="4754880" cy="4754880"/>
          </a:xfrm>
          <a:prstGeom prst="ellipse">
            <a:avLst/>
          </a:prstGeom>
          <a:solidFill>
            <a:srgbClr val="3A2A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914400" cy="713232"/>
          </a:xfrm>
          <a:prstGeom prst="roundRect">
            <a:avLst>
              <a:gd name="adj" fmla="val 17949"/>
            </a:avLst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6766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DU MONDE FIFA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969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CANADA · MEXIQUE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8595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développement d'une application de suivi de la Coupe du Monde 2026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individuelle — Présentation du projet, des choix de conception et de ma contribution personnelle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2303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Islem BEN HAMIDA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Développement &amp; Innovation (M1-DI)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870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ENSITECH · Examen partiel · Semestre 2 · 2025-2026</a:t>
            </a:r>
            <a:endParaRPr lang="en-US" sz="1050" dirty="0"/>
          </a:p>
        </p:txBody>
      </p:sp>
      <p:pic>
        <p:nvPicPr>
          <p:cNvPr id="15" name="Image 0" descr="/home/claude/pptx_assets/app_m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9720" y="4937760"/>
            <a:ext cx="2631440" cy="1691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21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8507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636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" y="1911096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596896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26919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478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5568" y="275234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38144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53324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15568" y="35935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fonctionnel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279392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4374490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15568" y="4434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&amp; architecture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5120640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8" y="5215738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5001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15568" y="527608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17920" y="1755648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018" y="1850746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84848" y="1636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784848" y="1911096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(MERISE)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217920" y="2596896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018" y="269199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84848" y="2478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784848" y="275234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l'interface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217920" y="3438144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3018" y="3533242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84848" y="3319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6784848" y="359359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6217920" y="4279392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3018" y="4374490"/>
            <a:ext cx="285293" cy="28529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784848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784848" y="4434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6217920" y="5120640"/>
            <a:ext cx="475488" cy="475488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3018" y="5215738"/>
            <a:ext cx="285293" cy="28529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784848" y="5001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6784848" y="527608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contribution &amp; conclusion</a:t>
            </a:r>
            <a:endParaRPr lang="en-US" sz="1400" dirty="0"/>
          </a:p>
        </p:txBody>
      </p:sp>
      <p:sp>
        <p:nvSpPr>
          <p:cNvPr id="45" name="Text 3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023360" cy="4023360"/>
          </a:xfrm>
          <a:prstGeom prst="ellipse">
            <a:avLst/>
          </a:prstGeom>
          <a:solidFill>
            <a:srgbClr val="FF2E6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CADRAGE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développer, en binôme et en 3 jours, une application de suivi de la Coupe du Monde FIFA 2026 — comparable aux solutions existantes (Google, sites sportifs, applications mobiles).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971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équipes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472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en 12 groupes de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88036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9718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phases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4472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→ finale, petite finale incluse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jours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réalisation du mini-projet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41148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étudiants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4681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données, front-end &amp; qualité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la compétition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2404872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2951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groupes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2880360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2770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Seizièmes de finale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3355848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Huitièmes de finale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831336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721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Quarts de finale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4306824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41970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Demi-finales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4782312"/>
            <a:ext cx="109728" cy="109728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46725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finale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5257800"/>
            <a:ext cx="109728" cy="10972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5148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9E3D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CADRAGE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mini-projet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d'un sujet fonctionnel ouvert, sans cahier des charges imposé.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complète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écrans, données et flux, avant tout développement.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0208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496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rôles, coordination, communication sur 3 jours.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applicatif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fonctionnelle, stable et démontrable.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348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temps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634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fonctionnalités dans un délai très court.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2153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temps réel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5496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des scores et statuts de match.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ANALYSE DES BESOINS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 &amp;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Passionné de football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tous les matchs, classements, scores en direct.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828800"/>
            <a:ext cx="457200" cy="45720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Spectateur occasionnel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rapidement le match du jour et son score.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l'avancement du tournoi, sans expertise.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828800"/>
            <a:ext cx="457200" cy="457200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450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mobile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16568" y="30632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 simplement entre phases, sur petit écran.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73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de solutions existantes (Google, sites sportifs, applications de suivi) pour identifier les fonctionnalités pertinentes, sans les reproduire à l'identique — puis formalisation structurée des besoins.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CAHIER DES CHARGES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principales (MoSCoW)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194560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9808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Consultation par phase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984248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01768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001768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57016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Informations d'un match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63056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4224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984248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808976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7808976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64224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Fiche détaillée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0264" y="169164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71432" y="1892808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1984248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616184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10616184" y="19385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171432" y="2496312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Mise à jour temps réel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9808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88536"/>
            <a:ext cx="274320" cy="27432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194560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2194560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49808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Classements de groupes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55848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57016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4288536"/>
            <a:ext cx="274320" cy="27432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001768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C24B">
              <a:alpha val="22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5001768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3557016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Tableau final (bracket)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163056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64224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288536"/>
            <a:ext cx="274320" cy="27432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808976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44" name="Text 35"/>
          <p:cNvSpPr/>
          <p:nvPr/>
        </p:nvSpPr>
        <p:spPr>
          <a:xfrm>
            <a:off x="7808976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6364224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· Navigation phases/matchs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8970264" y="39959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171432" y="419709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72" y="4288536"/>
            <a:ext cx="274320" cy="274320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10616184" y="42428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3B5C">
              <a:alpha val="22000"/>
            </a:srgbClr>
          </a:solidFill>
          <a:ln/>
        </p:spPr>
      </p:sp>
      <p:sp>
        <p:nvSpPr>
          <p:cNvPr id="50" name="Text 40"/>
          <p:cNvSpPr/>
          <p:nvPr/>
        </p:nvSpPr>
        <p:spPr>
          <a:xfrm>
            <a:off x="10616184" y="42428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9171432" y="48006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· Gestion des états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950" dirty="0"/>
          </a:p>
        </p:txBody>
      </p:sp>
      <p:sp>
        <p:nvSpPr>
          <p:cNvPr id="53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1097280"/>
            <a:ext cx="3291840" cy="3291840"/>
          </a:xfrm>
          <a:prstGeom prst="ellipse">
            <a:avLst/>
          </a:prstGeom>
          <a:solidFill>
            <a:srgbClr val="FF2E6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754880"/>
            <a:ext cx="3291840" cy="329184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en fonctionnement</a:t>
            </a:r>
            <a:endParaRPr lang="en-US" sz="3000" dirty="0"/>
          </a:p>
        </p:txBody>
      </p:sp>
      <p:pic>
        <p:nvPicPr>
          <p:cNvPr id="6" name="Image 0" descr="/home/claude/pptx_assets/app_m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704088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2971800" cy="4526280"/>
          </a:xfrm>
          <a:prstGeom prst="roundRect">
            <a:avLst>
              <a:gd name="adj" fmla="val 2769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0" y="17556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FIFA Ultimate Team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214884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noir/or/vert terrain inspirée FIFA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vedette avec barre de prédiction IA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cartes équipe FUT cliquables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live générés par IA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FIFA en modal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CAHIER DES CHARGES TECHNIQUE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technologiques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196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(SPA)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57800" y="166420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sans installation, multiplateforme.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58775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883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532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(JavaScript)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57800" y="253288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réutilisables, état réactif pour le temps réel.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5701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015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simulée + données mockées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40156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totale des scénarios de démo, indépendance.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2511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256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70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par polling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257800" y="427024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fiable dans le délai ; remplaçable par WebSocket.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193792"/>
            <a:ext cx="502920" cy="502920"/>
          </a:xfrm>
          <a:prstGeom prst="ellipse">
            <a:avLst/>
          </a:prstGeom>
          <a:solidFill>
            <a:srgbClr val="EAF0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29437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389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(GitHub/GitLab)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57800" y="513892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collaboratif, traçabilité, organisation en branches.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FFC2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CHOIX ASSUMÉ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choix clair : pas de back-end serveur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explicitement autorisé par le sujet (API simulée / données mockées en temps réel)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totale des scénarios de démonstration, sans dépendre d'un service externe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 délai de 3 jours : moins de risque technique, plus de temps sur la qualité ;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: la couche service est isolée et remplaçable sans refonte.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4343400" cy="4297680"/>
          </a:xfrm>
          <a:prstGeom prst="roundRect">
            <a:avLst>
              <a:gd name="adj" fmla="val 1915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35240" y="2011680"/>
            <a:ext cx="548640" cy="54864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21214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352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35240" y="324612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0C1230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2461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(UI)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3959352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0C1230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39593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467258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2A1E08"/>
          </a:solidFill>
          <a:ln/>
        </p:spPr>
      </p:sp>
      <p:sp>
        <p:nvSpPr>
          <p:cNvPr id="17" name="Text 14"/>
          <p:cNvSpPr/>
          <p:nvPr/>
        </p:nvSpPr>
        <p:spPr>
          <a:xfrm>
            <a:off x="7635240" y="467258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 données (simulé)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023360" cy="4023360"/>
          </a:xfrm>
          <a:prstGeom prst="ellipse">
            <a:avLst/>
          </a:prstGeom>
          <a:solidFill>
            <a:srgbClr val="FF2E6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389120"/>
            <a:ext cx="3657600" cy="3657600"/>
          </a:xfrm>
          <a:prstGeom prst="ellipse">
            <a:avLst/>
          </a:prstGeom>
          <a:solidFill>
            <a:srgbClr val="19E3D4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3 MODULES IA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 intégrée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Prédictions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8716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(domicile/nul/extérieur) calculées depuis les stats réelles. Barre tricolore sur chaque carte de match et dans le hero.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474720" cy="4343400"/>
          </a:xfrm>
          <a:prstGeom prst="roundRect">
            <a:avLst>
              <a:gd name="adj" fmla="val 2368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208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9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Analyse de forme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248716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généré automatiquement dans la fiche équipe FUT : forme récente V/N/D, position dans le groupe, tendance offensive.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93592" cy="4343400"/>
          </a:xfrm>
          <a:prstGeom prst="roundRect">
            <a:avLst>
              <a:gd name="adj" fmla="val 2290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208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E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🎙️ Commentaires live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9328" y="2487168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minute par minute sur les matchs en direct : actions, occasions, annonce de chaque but. Fiche détaillée.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8680" y="5440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commune : service simulé isolé, données réelles injectées, remplaçable par API sans toucher l'affichage. Aucune clé exposée.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cas d'utilisation</a:t>
            </a:r>
            <a:endParaRPr lang="en-US" sz="3000" dirty="0"/>
          </a:p>
        </p:txBody>
      </p:sp>
      <p:pic>
        <p:nvPicPr>
          <p:cNvPr id="4" name="Image 0" descr="/home/claude/pptx_assets/u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001" y="1554480"/>
            <a:ext cx="587623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5448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32520" y="2148840"/>
            <a:ext cx="2743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acteurs : Utilisateur, Service de données et Assistant IA. 8 cas d'utilisation, dont « Interroger l'assistant IA » (nouveau), avec 2 relations « extend ».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séquence</a:t>
            </a:r>
            <a:endParaRPr lang="en-US" sz="3000" dirty="0"/>
          </a:p>
        </p:txBody>
      </p:sp>
      <p:pic>
        <p:nvPicPr>
          <p:cNvPr id="4" name="Image 0" descr="/home/claude/pptx_assets/seq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31" y="1554480"/>
            <a:ext cx="677945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554480"/>
            <a:ext cx="3017520" cy="4572000"/>
          </a:xfrm>
          <a:prstGeom prst="roundRect">
            <a:avLst>
              <a:gd name="adj" fmla="val 2727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148840"/>
            <a:ext cx="2606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matchs (fragment alt : succès / erreur) puis boucle de mise à jour temps réel (fragment loop, toutes les 4 s).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CONCEPTION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d'activité &amp; de classes</a:t>
            </a:r>
            <a:endParaRPr lang="en-US" sz="3000" dirty="0"/>
          </a:p>
        </p:txBody>
      </p:sp>
      <p:pic>
        <p:nvPicPr>
          <p:cNvPr id="4" name="Image 0" descr="/home/claude/pptx_assets/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68" y="1554480"/>
            <a:ext cx="3135664" cy="4572000"/>
          </a:xfrm>
          <a:prstGeom prst="rect">
            <a:avLst/>
          </a:prstGeom>
        </p:spPr>
      </p:pic>
      <p:pic>
        <p:nvPicPr>
          <p:cNvPr id="5" name="Image 1" descr="/home/claude/pptx_assets/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202" y="1554480"/>
            <a:ext cx="4987636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BASE DE DONNÉES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— MERISE</a:t>
            </a:r>
            <a:endParaRPr lang="en-US" sz="3000" dirty="0"/>
          </a:p>
        </p:txBody>
      </p:sp>
      <p:pic>
        <p:nvPicPr>
          <p:cNvPr id="4" name="Image 0" descr="/home/claude/pptx_assets/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793" y="1554480"/>
            <a:ext cx="4652093" cy="2331720"/>
          </a:xfrm>
          <a:prstGeom prst="rect">
            <a:avLst/>
          </a:prstGeom>
        </p:spPr>
      </p:pic>
      <p:pic>
        <p:nvPicPr>
          <p:cNvPr id="5" name="Image 1" descr="/home/claude/pptx_assets/m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548" y="1554480"/>
            <a:ext cx="3741703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069080"/>
            <a:ext cx="11064240" cy="2057400"/>
          </a:xfrm>
          <a:prstGeom prst="roundRect">
            <a:avLst>
              <a:gd name="adj" fmla="val 4000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→ MLD → MPD → Dictionnaire de données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entités : Équipe, Groupe, Match, Phase, Stade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primaires/étrangères et règles de normalisation (1FN, 2FN, 3FN)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 avec types, contraintes et script SQL prêt à l'implémentation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CONCEPTION DE L'INTERFACE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Charte graphique « FIFA World Cup 2026 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6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noir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76272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2176272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03904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C9960A"/>
          </a:solidFill>
          <a:ln/>
        </p:spPr>
      </p:sp>
      <p:sp>
        <p:nvSpPr>
          <p:cNvPr id="9" name="Text 7"/>
          <p:cNvSpPr/>
          <p:nvPr/>
        </p:nvSpPr>
        <p:spPr>
          <a:xfrm>
            <a:off x="3803904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FIFA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31536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F5D060"/>
          </a:solidFill>
          <a:ln/>
        </p:spPr>
      </p:sp>
      <p:sp>
        <p:nvSpPr>
          <p:cNvPr id="11" name="Text 9"/>
          <p:cNvSpPr/>
          <p:nvPr/>
        </p:nvSpPr>
        <p:spPr>
          <a:xfrm>
            <a:off x="5431536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59168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A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059168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terrain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0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FDB5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vif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14432" y="16916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E050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314432" y="2743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 &amp; composants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: 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28600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 — scores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416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— titres 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57' · 18:00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Mono — bandeau/horloge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4612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FUT (dégradés)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C9960A">
              <a:alpha val="60000"/>
            </a:srgbClr>
          </a:solidFill>
          <a:ln w="19050">
            <a:solidFill>
              <a:srgbClr val="C99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77240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9AA8B4">
              <a:alpha val="60000"/>
            </a:srgbClr>
          </a:solidFill>
          <a:ln w="19050">
            <a:solidFill>
              <a:srgbClr val="9AA8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05256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1FDB5A">
              <a:alpha val="60000"/>
            </a:srgbClr>
          </a:solidFill>
          <a:ln w="19050">
            <a:solidFill>
              <a:srgbClr val="1FDB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5256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5256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332720" y="3931920"/>
            <a:ext cx="1143000" cy="1645920"/>
          </a:xfrm>
          <a:prstGeom prst="roundRect">
            <a:avLst>
              <a:gd name="adj" fmla="val 9600"/>
            </a:avLst>
          </a:prstGeom>
          <a:solidFill>
            <a:srgbClr val="C07030">
              <a:alpha val="60000"/>
            </a:srgbClr>
          </a:solidFill>
          <a:ln w="19050">
            <a:solidFill>
              <a:srgbClr val="C07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40690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32720" y="44348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32720" y="47548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GESTION DE PROJET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Agile/Scrum sur 3 jours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conception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besoins, cahiers des charges, UML, MERISE, charte graphique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données, couche service, moteur temps réel, écrans front-end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20240"/>
            <a:ext cx="640080" cy="640080"/>
          </a:xfrm>
          <a:prstGeom prst="ellipse">
            <a:avLst/>
          </a:prstGeom>
          <a:solidFill>
            <a:srgbClr val="FF2E6E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&amp;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108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Intégration, tests manuels, relecture, Kanban et README à jour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rôles complémentaires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94690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818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(analyse, cahiers des charges, UML/MERISE)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94690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818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logique (modèle, service, temps réel)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544982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(composants, charte graphique)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5449824"/>
            <a:ext cx="91440" cy="91440"/>
          </a:xfrm>
          <a:prstGeom prst="ellipse">
            <a:avLst/>
          </a:prstGeom>
          <a:solidFill>
            <a:srgbClr val="19E3D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QA (coordination, tests, Kanban)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SUIVI &amp; TRAÇABILITÉ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Kanban &amp; dépôt Git</a:t>
            </a:r>
            <a:endParaRPr lang="en-US" sz="3000" dirty="0"/>
          </a:p>
        </p:txBody>
      </p:sp>
      <p:pic>
        <p:nvPicPr>
          <p:cNvPr id="4" name="Image 0" descr="/home/claude/pptx_assets/kanb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35" y="1554480"/>
            <a:ext cx="6957971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554480"/>
            <a:ext cx="3200400" cy="3977640"/>
          </a:xfrm>
          <a:prstGeom prst="roundRect">
            <a:avLst>
              <a:gd name="adj" fmla="val 2571"/>
            </a:avLst>
          </a:prstGeom>
          <a:solidFill>
            <a:srgbClr val="0C12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32520" y="178308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188366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252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Git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732520" y="28346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main stable et démontrable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branche par fonctionnalité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 et explicites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documentant la structure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480560"/>
            <a:ext cx="3657600" cy="3657600"/>
          </a:xfrm>
          <a:prstGeom prst="ellipse">
            <a:avLst/>
          </a:prstGeom>
          <a:solidFill>
            <a:srgbClr val="FFC24B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· SÉCURITÉ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 en compte de la sécurité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HTTPS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échanges de données chiffrés.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d'API non exposées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dans le code client.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0208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49640" y="28986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données reçues avant affichage.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153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Anti-XSS basique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d'injection HTML brute non filtrée.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348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propre des erreurs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634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génériques, sans fuite d'information.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49640" y="4114800"/>
            <a:ext cx="502920" cy="50292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2153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BDD (cible)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49640" y="509320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paramétrées, droits limités, contraintes d'intégrité.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 · QUALITÉ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vérifications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phase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correct sans rechargement complet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81928" y="189280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84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temps réel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903720" y="22402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et minute évoluent automatiquement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conforme aux règles officielles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32004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81928" y="340156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4930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final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0372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provisoires corrects pour équipes inconnues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91032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017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7160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clair + option de relance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47091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81928" y="4910328"/>
            <a:ext cx="457200" cy="457200"/>
          </a:xfrm>
          <a:prstGeom prst="ellipse">
            <a:avLst/>
          </a:prstGeom>
          <a:solidFill>
            <a:srgbClr val="E7F4E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50017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mobile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0372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lisible sur petit écran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657600" cy="3657600"/>
          </a:xfrm>
          <a:prstGeom prst="ellipse">
            <a:avLst/>
          </a:prstGeom>
          <a:solidFill>
            <a:srgbClr val="FF2E6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9 · CONTRIBUTION INDIVIDUELLE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rôle dans le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856"/>
            </a:avLst>
          </a:prstGeom>
          <a:solidFill>
            <a:srgbClr val="121A3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93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Islem BEN HAMIDA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Conception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 et cahiers des charges (fonctionnel et technique)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 complète (cas d'utilisation, séquence, activité, classes, entités)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 la base de données (MERISE : MCD, MLD, MPD, dictionnaire)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l'interface (zonings, wireframes, charte graphique)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la gestion de projet (Scrum, Kanban, Git)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97880" y="169164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1A21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peux expliquer au jury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237744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choix fonctionnels et techniques, et leurs alternatives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chaque diagramme UML reflète le fonctionnement réel de l'application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modèle de données pourrait être implémenté (MPD, SQL)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l'absence de back-end serveur est un choix assumé, pas un manque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gestion de projet a structuré le travail malgré le délai court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FF2E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389120" cy="4389120"/>
          </a:xfrm>
          <a:prstGeom prst="ellipse">
            <a:avLst/>
          </a:prstGeom>
          <a:solidFill>
            <a:srgbClr val="19E3D4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cohérente, de l'analyse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D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mise en œuvre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1272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analysés et traduits en fonctionnalités priorisées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136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 et MERISE cohérente avec l'application réelle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535424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268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5537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avec mise à jour en temps réel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400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526694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 projet structurée malgré un délai de 3 jours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4864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Islem Ben Hamida — M1-DI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Coupe du Monde FIFA 2026 — Soutenance individuelle</dc:title>
  <dc:subject>PptxGenJS Presentation</dc:subject>
  <dc:creator>Islem Ben Hamida</dc:creator>
  <cp:lastModifiedBy>Islem Ben Hamida</cp:lastModifiedBy>
  <cp:revision>1</cp:revision>
  <dcterms:created xsi:type="dcterms:W3CDTF">2026-06-19T07:28:50Z</dcterms:created>
  <dcterms:modified xsi:type="dcterms:W3CDTF">2026-06-19T07:28:50Z</dcterms:modified>
</cp:coreProperties>
</file>