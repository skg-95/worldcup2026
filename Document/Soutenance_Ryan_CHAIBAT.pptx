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28"/>
    <p:sldId id="278" r:id="rId29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463040"/>
            <a:ext cx="4754880" cy="4754880"/>
          </a:xfrm>
          <a:prstGeom prst="ellipse">
            <a:avLst/>
          </a:prstGeom>
          <a:solidFill>
            <a:srgbClr val="FF2E6E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-1463040"/>
            <a:ext cx="4023360" cy="4023360"/>
          </a:xfrm>
          <a:prstGeom prst="ellipse">
            <a:avLst/>
          </a:prstGeom>
          <a:solidFill>
            <a:srgbClr val="19E3D4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840480"/>
            <a:ext cx="4754880" cy="4754880"/>
          </a:xfrm>
          <a:prstGeom prst="ellipse">
            <a:avLst/>
          </a:prstGeom>
          <a:solidFill>
            <a:srgbClr val="3A2AFF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"/>
            <a:ext cx="914400" cy="713232"/>
          </a:xfrm>
          <a:prstGeom prst="roundRect">
            <a:avLst>
              <a:gd name="adj" fmla="val 17949"/>
            </a:avLst>
          </a:prstGeom>
          <a:solidFill>
            <a:srgbClr val="FF2E6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0080"/>
            <a:ext cx="914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67665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COUPE DU MONDE FIFA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9692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· CANADA · MEXIQUE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8595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Conception et développement d'une application de suivi de la Coupe du Monde 2026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individuelle — Présentation du projet, des choix de conception et de ma contribution personnelle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23036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Ryan CHAIBAT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14400" y="5623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1 — Développement &amp; Innovation (M1-DI)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4400" y="5870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ENSITECH · Examen partiel · Semestre 2 · 2025-2026</a:t>
            </a:r>
            <a:endParaRPr lang="en-US" sz="1050" dirty="0"/>
          </a:p>
        </p:txBody>
      </p:sp>
      <p:pic>
        <p:nvPicPr>
          <p:cNvPr id="15" name="Image 0" descr="/home/claude/pptx_assets/app_m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9720" y="4937760"/>
            <a:ext cx="2631440" cy="16916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23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657600" cy="3657600"/>
          </a:xfrm>
          <a:prstGeom prst="ellipse">
            <a:avLst/>
          </a:prstGeom>
          <a:solidFill>
            <a:srgbClr val="19E3D4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8" y="1850746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6367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15568" y="1911096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596896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38" y="269199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2478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15568" y="2752344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besoins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438144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8" y="3533242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15568" y="331927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115568" y="3593592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Cahier des charges fonctionnel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4279392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8" y="4374490"/>
            <a:ext cx="285293" cy="28529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115568" y="4160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1115568" y="443484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&amp; architecture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5120640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8" y="5215738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15568" y="500176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1115568" y="5276088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UML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217920" y="1755648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3018" y="1850746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784848" y="16367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6784848" y="1911096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 (MERISE)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6217920" y="2596896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018" y="2691994"/>
            <a:ext cx="285293" cy="285293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784848" y="247802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6784848" y="2752344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de l'interface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6217920" y="3438144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3018" y="3533242"/>
            <a:ext cx="285293" cy="285293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6784848" y="331927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26"/>
          <p:cNvSpPr/>
          <p:nvPr/>
        </p:nvSpPr>
        <p:spPr>
          <a:xfrm>
            <a:off x="6784848" y="3593592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projet &amp; DevOps</a:t>
            </a:r>
            <a:endParaRPr lang="en-US" sz="1400" dirty="0"/>
          </a:p>
        </p:txBody>
      </p:sp>
      <p:sp>
        <p:nvSpPr>
          <p:cNvPr id="37" name="Shape 27"/>
          <p:cNvSpPr/>
          <p:nvPr/>
        </p:nvSpPr>
        <p:spPr>
          <a:xfrm>
            <a:off x="6217920" y="4279392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3018" y="4374490"/>
            <a:ext cx="285293" cy="285293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6784848" y="4160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40" name="Text 29"/>
          <p:cNvSpPr/>
          <p:nvPr/>
        </p:nvSpPr>
        <p:spPr>
          <a:xfrm>
            <a:off x="6784848" y="443484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400" dirty="0"/>
          </a:p>
        </p:txBody>
      </p:sp>
      <p:sp>
        <p:nvSpPr>
          <p:cNvPr id="41" name="Shape 30"/>
          <p:cNvSpPr/>
          <p:nvPr/>
        </p:nvSpPr>
        <p:spPr>
          <a:xfrm>
            <a:off x="6217920" y="5120640"/>
            <a:ext cx="475488" cy="475488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3018" y="5215738"/>
            <a:ext cx="285293" cy="285293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6784848" y="5001768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4" name="Text 32"/>
          <p:cNvSpPr/>
          <p:nvPr/>
        </p:nvSpPr>
        <p:spPr>
          <a:xfrm>
            <a:off x="6784848" y="5276088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contribution &amp; conclusion</a:t>
            </a:r>
            <a:endParaRPr lang="en-US" sz="1400" dirty="0"/>
          </a:p>
        </p:txBody>
      </p:sp>
      <p:sp>
        <p:nvSpPr>
          <p:cNvPr id="45" name="Text 33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23</a:t>
            </a:r>
            <a:endParaRPr lang="en-US" sz="950" dirty="0"/>
          </a:p>
        </p:txBody>
      </p:sp>
      <p:sp>
        <p:nvSpPr>
          <p:cNvPr id="46" name="Text 34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572000"/>
            <a:ext cx="4023360" cy="4023360"/>
          </a:xfrm>
          <a:prstGeom prst="ellipse">
            <a:avLst/>
          </a:prstGeom>
          <a:solidFill>
            <a:srgbClr val="FF2E6E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CADRAGE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problématique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développer, en binôme et en 3 jours, une application de suivi de la Coupe du Monde FIFA 2026 — comparable aux solutions existantes (Google, sites sportifs, applications mobiles).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2606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9718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équipes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44728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réparties en 12 groupes de 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2880360"/>
            <a:ext cx="2606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297180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phases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344728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→ finale, petite finale incluse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2606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2062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jours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468172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 réalisation du mini-projet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37560" y="4114800"/>
            <a:ext cx="2606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520440" y="42062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étudiants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520440" y="4681728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données, front-end &amp; qualité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0" y="1554480"/>
            <a:ext cx="5212080" cy="4434840"/>
          </a:xfrm>
          <a:prstGeom prst="roundRect">
            <a:avLst>
              <a:gd name="adj" fmla="val 1856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20840" y="1783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de la compétition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766560" y="2404872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229514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de groupes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2880360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277063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Seizièmes de finale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66560" y="3355848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5" name="Text 23"/>
          <p:cNvSpPr/>
          <p:nvPr/>
        </p:nvSpPr>
        <p:spPr>
          <a:xfrm>
            <a:off x="6995160" y="3246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Huitièmes de finale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3831336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7" name="Text 25"/>
          <p:cNvSpPr/>
          <p:nvPr/>
        </p:nvSpPr>
        <p:spPr>
          <a:xfrm>
            <a:off x="6995160" y="3721608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Quarts de finale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66560" y="4306824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9" name="Text 27"/>
          <p:cNvSpPr/>
          <p:nvPr/>
        </p:nvSpPr>
        <p:spPr>
          <a:xfrm>
            <a:off x="6995160" y="419709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Demi-finales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766560" y="4782312"/>
            <a:ext cx="109728" cy="109728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31" name="Text 29"/>
          <p:cNvSpPr/>
          <p:nvPr/>
        </p:nvSpPr>
        <p:spPr>
          <a:xfrm>
            <a:off x="6995160" y="46725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finale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766560" y="5257800"/>
            <a:ext cx="109728" cy="109728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33" name="Text 31"/>
          <p:cNvSpPr/>
          <p:nvPr/>
        </p:nvSpPr>
        <p:spPr>
          <a:xfrm>
            <a:off x="6995160" y="51480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23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19E3D4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· CADRAGE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du mini-projet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208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besoin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772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d'un sujet fonctionnel ouvert, sans cahier des charges imposé.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20208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complète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634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écrans, données et flux, avant tout développement.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3210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0208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496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équipe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5496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rôles, coordination, communication sur 3 jours.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486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215384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772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applicatif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7772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fonctionnelle, stable et démontrable.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634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21538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634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temps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46634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des fonctionnalités dans un délai très court.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3210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4215384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5496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en temps réel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85496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automatique des scores et statuts de match.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23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ANALYSE DES BESOINS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cible &amp; objectifs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F2E6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4505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Passionné de football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tous les matchs, classements, scores en direct.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60020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828800"/>
            <a:ext cx="457200" cy="457200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10" name="Text 8"/>
          <p:cNvSpPr/>
          <p:nvPr/>
        </p:nvSpPr>
        <p:spPr>
          <a:xfrm>
            <a:off x="3538728" y="24505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Spectateur occasionnel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8728" y="306324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Repérer rapidement le match du jour et son score.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828800"/>
            <a:ext cx="457200" cy="457200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4" name="Text 12"/>
          <p:cNvSpPr/>
          <p:nvPr/>
        </p:nvSpPr>
        <p:spPr>
          <a:xfrm>
            <a:off x="6327648" y="24505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public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27648" y="306324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l'avancement du tournoi, sans expertise.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15400" y="160020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0" y="1828800"/>
            <a:ext cx="457200" cy="457200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8" name="Text 16"/>
          <p:cNvSpPr/>
          <p:nvPr/>
        </p:nvSpPr>
        <p:spPr>
          <a:xfrm>
            <a:off x="9116568" y="2450592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mobile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16568" y="306324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Naviguer simplement entre phases, sur petit écran.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773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" y="50749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de solutions existantes (Google, sites sportifs, applications de suivi) pour identifier les fonctionnalités pertinentes, sans les reproduire à l'identique — puis formalisation structurée des besoins.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CAHIER DES CHARGES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Fonctionnalités principales (MoSCoW)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84248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94560" y="193852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3B5C">
              <a:alpha val="2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2194560" y="193852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49808" y="2496312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Consultation par phase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55848" y="169164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57016" y="1892808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456" y="1984248"/>
            <a:ext cx="274320" cy="274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001768" y="193852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3B5C">
              <a:alpha val="22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5001768" y="193852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557016" y="2496312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Informations d'un match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63056" y="169164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4224" y="1892808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1984248"/>
            <a:ext cx="274320" cy="27432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808976" y="193852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C24B">
              <a:alpha val="22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7808976" y="193852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6364224" y="2496312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Fiche détaillée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970264" y="1691640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71432" y="1892808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72" y="1984248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0616184" y="193852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3B5C">
              <a:alpha val="22000"/>
            </a:srgbClr>
          </a:solidFill>
          <a:ln/>
        </p:spPr>
      </p:sp>
      <p:sp>
        <p:nvSpPr>
          <p:cNvPr id="26" name="Text 20"/>
          <p:cNvSpPr/>
          <p:nvPr/>
        </p:nvSpPr>
        <p:spPr>
          <a:xfrm>
            <a:off x="10616184" y="1938528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9171432" y="2496312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· Mise à jour temps réel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48640" y="3995928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49808" y="4197096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288536"/>
            <a:ext cx="274320" cy="27432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2194560" y="424281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C24B">
              <a:alpha val="22000"/>
            </a:srgbClr>
          </a:solidFill>
          <a:ln/>
        </p:spPr>
      </p:sp>
      <p:sp>
        <p:nvSpPr>
          <p:cNvPr id="32" name="Text 25"/>
          <p:cNvSpPr/>
          <p:nvPr/>
        </p:nvSpPr>
        <p:spPr>
          <a:xfrm>
            <a:off x="2194560" y="424281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749808" y="4800600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Classements de groupes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3355848" y="3995928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57016" y="4197096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456" y="4288536"/>
            <a:ext cx="274320" cy="27432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001768" y="424281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C24B">
              <a:alpha val="22000"/>
            </a:srgbClr>
          </a:solidFill>
          <a:ln/>
        </p:spPr>
      </p:sp>
      <p:sp>
        <p:nvSpPr>
          <p:cNvPr id="38" name="Text 30"/>
          <p:cNvSpPr/>
          <p:nvPr/>
        </p:nvSpPr>
        <p:spPr>
          <a:xfrm>
            <a:off x="5001768" y="424281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3557016" y="4800600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· Tableau final (bracket)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6163056" y="3995928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64224" y="4197096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5664" y="4288536"/>
            <a:ext cx="274320" cy="27432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7808976" y="424281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3B5C">
              <a:alpha val="22000"/>
            </a:srgbClr>
          </a:solidFill>
          <a:ln/>
        </p:spPr>
      </p:sp>
      <p:sp>
        <p:nvSpPr>
          <p:cNvPr id="44" name="Text 35"/>
          <p:cNvSpPr/>
          <p:nvPr/>
        </p:nvSpPr>
        <p:spPr>
          <a:xfrm>
            <a:off x="7808976" y="424281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6364224" y="4800600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F7 · Navigation phases/matchs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8970264" y="3995928"/>
            <a:ext cx="2606040" cy="2103120"/>
          </a:xfrm>
          <a:prstGeom prst="roundRect">
            <a:avLst>
              <a:gd name="adj" fmla="val 391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71432" y="4197096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2872" y="4288536"/>
            <a:ext cx="274320" cy="274320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10616184" y="424281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3B5C">
              <a:alpha val="22000"/>
            </a:srgbClr>
          </a:solidFill>
          <a:ln/>
        </p:spPr>
      </p:sp>
      <p:sp>
        <p:nvSpPr>
          <p:cNvPr id="50" name="Text 40"/>
          <p:cNvSpPr/>
          <p:nvPr/>
        </p:nvSpPr>
        <p:spPr>
          <a:xfrm>
            <a:off x="10616184" y="4242816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51" name="Text 41"/>
          <p:cNvSpPr/>
          <p:nvPr/>
        </p:nvSpPr>
        <p:spPr>
          <a:xfrm>
            <a:off x="9171432" y="4800600"/>
            <a:ext cx="22037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F9 · Gestion des états</a:t>
            </a:r>
            <a:endParaRPr lang="en-US" sz="1200" dirty="0"/>
          </a:p>
        </p:txBody>
      </p:sp>
      <p:sp>
        <p:nvSpPr>
          <p:cNvPr id="52" name="Text 4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23</a:t>
            </a:r>
            <a:endParaRPr lang="en-US" sz="950" dirty="0"/>
          </a:p>
        </p:txBody>
      </p:sp>
      <p:sp>
        <p:nvSpPr>
          <p:cNvPr id="53" name="Text 4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1097280"/>
            <a:ext cx="3291840" cy="3291840"/>
          </a:xfrm>
          <a:prstGeom prst="ellipse">
            <a:avLst/>
          </a:prstGeom>
          <a:solidFill>
            <a:srgbClr val="FF2E6E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4754880"/>
            <a:ext cx="3291840" cy="3291840"/>
          </a:xfrm>
          <a:prstGeom prst="ellipse">
            <a:avLst/>
          </a:prstGeom>
          <a:solidFill>
            <a:srgbClr val="19E3D4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en fonctionnement</a:t>
            </a:r>
            <a:endParaRPr lang="en-US" sz="3000" dirty="0"/>
          </a:p>
        </p:txBody>
      </p:sp>
      <p:pic>
        <p:nvPicPr>
          <p:cNvPr id="6" name="Image 0" descr="/home/claude/pptx_assets/app_m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7040880" cy="4526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0" y="1554480"/>
            <a:ext cx="2971800" cy="4526280"/>
          </a:xfrm>
          <a:prstGeom prst="roundRect">
            <a:avLst>
              <a:gd name="adj" fmla="val 2769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961120" y="17556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 FIFA Ultimate Team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2148840"/>
            <a:ext cx="24688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 noir/or/vert terrain inspirée FIFA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vedette avec barre de prédiction IA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cartes équipe FUT cliquables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Commentaires live générés par IA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FIFA en modal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conversationnel IA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· CAHIER DES CHARGES TECHNIQUE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technologiques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1907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19656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(SPA)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257800" y="166420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sans installation, multiplateforme.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58775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688336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3288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(JavaScript)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257800" y="253288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réutilisables, état réactif pour le temps réel.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45643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55701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40156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simulée + données mockées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257800" y="340156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totale des scénarios de démo, indépendance.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32511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425696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270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par polling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257800" y="427024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et fiable dans le délai ; remplaçable par WebSocket.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07492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519379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294376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513892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(GitHub/GitLab)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257800" y="513892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collaboratif, traçabilité, organisation en branches.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23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914400"/>
            <a:ext cx="3657600" cy="3657600"/>
          </a:xfrm>
          <a:prstGeom prst="ellipse">
            <a:avLst/>
          </a:prstGeom>
          <a:solidFill>
            <a:srgbClr val="FFC24B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· CHOIX ASSUMÉ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choix clair : pas de back-end serveur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4297680"/>
          </a:xfrm>
          <a:prstGeom prst="roundRect">
            <a:avLst>
              <a:gd name="adj" fmla="val 1915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explicitement autorisé par le sujet (API simulée / données mockées en temps réel) ;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totale des scénarios de démonstration, sans dépendre d'un service externe ;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Adapté au délai de 3 jours : moins de risque technique, plus de temps sur la qualité ;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 : la couche service est isolée et remplaçable sans refonte.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1915"/>
            </a:avLst>
          </a:prstGeom>
          <a:solidFill>
            <a:srgbClr val="1A215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35240" y="2011680"/>
            <a:ext cx="548640" cy="54864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212140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63524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635240" y="3246120"/>
            <a:ext cx="3703320" cy="548640"/>
          </a:xfrm>
          <a:prstGeom prst="roundRect">
            <a:avLst>
              <a:gd name="adj" fmla="val 13333"/>
            </a:avLst>
          </a:prstGeom>
          <a:solidFill>
            <a:srgbClr val="0C1230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32461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(UI)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3959352"/>
            <a:ext cx="3703320" cy="548640"/>
          </a:xfrm>
          <a:prstGeom prst="roundRect">
            <a:avLst>
              <a:gd name="adj" fmla="val 13333"/>
            </a:avLst>
          </a:prstGeom>
          <a:solidFill>
            <a:srgbClr val="0C1230"/>
          </a:solidFill>
          <a:ln/>
        </p:spPr>
      </p:sp>
      <p:sp>
        <p:nvSpPr>
          <p:cNvPr id="15" name="Text 12"/>
          <p:cNvSpPr/>
          <p:nvPr/>
        </p:nvSpPr>
        <p:spPr>
          <a:xfrm>
            <a:off x="7635240" y="3959352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applicative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35240" y="4672584"/>
            <a:ext cx="3703320" cy="548640"/>
          </a:xfrm>
          <a:prstGeom prst="roundRect">
            <a:avLst>
              <a:gd name="adj" fmla="val 13333"/>
            </a:avLst>
          </a:prstGeom>
          <a:solidFill>
            <a:srgbClr val="2A1E08"/>
          </a:solidFill>
          <a:ln/>
        </p:spPr>
      </p:sp>
      <p:sp>
        <p:nvSpPr>
          <p:cNvPr id="17" name="Text 14"/>
          <p:cNvSpPr/>
          <p:nvPr/>
        </p:nvSpPr>
        <p:spPr>
          <a:xfrm>
            <a:off x="7635240" y="4672584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 données (simulé)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23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4023360" cy="4023360"/>
          </a:xfrm>
          <a:prstGeom prst="ellipse">
            <a:avLst/>
          </a:prstGeom>
          <a:solidFill>
            <a:srgbClr val="FF2E6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4389120"/>
            <a:ext cx="3657600" cy="3657600"/>
          </a:xfrm>
          <a:prstGeom prst="ellipse">
            <a:avLst/>
          </a:prstGeom>
          <a:solidFill>
            <a:srgbClr val="19E3D4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· 3 MODULES IA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artificielle intégrée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74720" cy="4343400"/>
          </a:xfrm>
          <a:prstGeom prst="roundRect">
            <a:avLst>
              <a:gd name="adj" fmla="val 2368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020824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0299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🎯 Prédictions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68680" y="2487168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Probabilités (domicile/nul/extérieur) calculées depuis les stats réelles. Barre tricolore sur chaque carte de match et dans le hero.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1691640"/>
            <a:ext cx="3474720" cy="4343400"/>
          </a:xfrm>
          <a:prstGeom prst="roundRect">
            <a:avLst>
              <a:gd name="adj" fmla="val 2368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020824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 Analyse de forme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617720" y="2487168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généré automatiquement dans la fiche équipe FUT : forme récente V/N/D, position dans le groupe, tendance offensive.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1691640"/>
            <a:ext cx="3593592" cy="4343400"/>
          </a:xfrm>
          <a:prstGeom prst="roundRect">
            <a:avLst>
              <a:gd name="adj" fmla="val 2290"/>
            </a:avLst>
          </a:prstGeom>
          <a:solidFill>
            <a:srgbClr val="1A215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39328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020824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20299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E3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🎙️ Commentaires live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339328" y="2487168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Commentaires minute par minute sur les matchs en direct : actions, occasions, annonce de chaque but. Fiche détaillée.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68680" y="54406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commune : service simulé isolé, données réelles injectées, remplaçable par API sans toucher l'affichage. Aucune clé exposée.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 · CONCEPTION UML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cas d'utilisation</a:t>
            </a:r>
            <a:endParaRPr lang="en-US" sz="3000" dirty="0"/>
          </a:p>
        </p:txBody>
      </p:sp>
      <p:pic>
        <p:nvPicPr>
          <p:cNvPr id="4" name="Image 0" descr="/home/claude/pptx_assets/u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1001" y="1554480"/>
            <a:ext cx="587623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55448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32520" y="17556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732520" y="2148840"/>
            <a:ext cx="27432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acteurs : Utilisateur, Service de données et Assistant IA. 8 cas d'utilisation, dont « Interroger l'assistant IA » (nouveau), avec 2 relations « extend ».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 · CONCEPTION UML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de séquence</a:t>
            </a:r>
            <a:endParaRPr lang="en-US" sz="3000" dirty="0"/>
          </a:p>
        </p:txBody>
      </p:sp>
      <p:pic>
        <p:nvPicPr>
          <p:cNvPr id="4" name="Image 0" descr="/home/claude/pptx_assets/seq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31" y="1554480"/>
            <a:ext cx="677945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41080" y="1554480"/>
            <a:ext cx="3017520" cy="4572000"/>
          </a:xfrm>
          <a:prstGeom prst="roundRect">
            <a:avLst>
              <a:gd name="adj" fmla="val 2727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15400" y="17556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915400" y="2148840"/>
            <a:ext cx="26060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matchs (fragment alt : succès / erreur) puis boucle de mise à jour temps réel (fragment loop, toutes les 4 s).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 · CONCEPTION UML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Diagramme d'activité &amp; de classes</a:t>
            </a:r>
            <a:endParaRPr lang="en-US" sz="3000" dirty="0"/>
          </a:p>
        </p:txBody>
      </p:sp>
      <p:pic>
        <p:nvPicPr>
          <p:cNvPr id="4" name="Image 0" descr="/home/claude/pptx_assets/ac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768" y="1554480"/>
            <a:ext cx="3135664" cy="4572000"/>
          </a:xfrm>
          <a:prstGeom prst="rect">
            <a:avLst/>
          </a:prstGeom>
        </p:spPr>
      </p:pic>
      <p:pic>
        <p:nvPicPr>
          <p:cNvPr id="5" name="Image 1" descr="/home/claude/pptx_assets/c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202" y="1554480"/>
            <a:ext cx="4987636" cy="4572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5 · BASE DE DONNÉES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de données — MERISE</a:t>
            </a:r>
            <a:endParaRPr lang="en-US" sz="3000" dirty="0"/>
          </a:p>
        </p:txBody>
      </p:sp>
      <p:pic>
        <p:nvPicPr>
          <p:cNvPr id="4" name="Image 0" descr="/home/claude/pptx_assets/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793" y="1554480"/>
            <a:ext cx="4652093" cy="2331720"/>
          </a:xfrm>
          <a:prstGeom prst="rect">
            <a:avLst/>
          </a:prstGeom>
        </p:spPr>
      </p:pic>
      <p:pic>
        <p:nvPicPr>
          <p:cNvPr id="5" name="Image 1" descr="/home/claude/pptx_assets/m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548" y="1554480"/>
            <a:ext cx="3741703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069080"/>
            <a:ext cx="11064240" cy="2057400"/>
          </a:xfrm>
          <a:prstGeom prst="roundRect">
            <a:avLst>
              <a:gd name="adj" fmla="val 4000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6868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→ MLD → MPD → Dictionnaire de données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68680" y="4663440"/>
            <a:ext cx="10332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entités : Équipe, Groupe, Match, Phase, Stade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primaires/étrangères et règles de normalisation (1FN, 2FN, 3FN)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 avec types, contraintes et script SQL prêt à l'implémentation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6 · CONCEPTION DE L'INTERFACE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Charte graphique « FIFA World Cup 2026 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060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 noir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176272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/>
        </p:spPr>
      </p:sp>
      <p:sp>
        <p:nvSpPr>
          <p:cNvPr id="7" name="Text 5"/>
          <p:cNvSpPr/>
          <p:nvPr/>
        </p:nvSpPr>
        <p:spPr>
          <a:xfrm>
            <a:off x="2176272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03904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C9960A"/>
          </a:solidFill>
          <a:ln/>
        </p:spPr>
      </p:sp>
      <p:sp>
        <p:nvSpPr>
          <p:cNvPr id="9" name="Text 7"/>
          <p:cNvSpPr/>
          <p:nvPr/>
        </p:nvSpPr>
        <p:spPr>
          <a:xfrm>
            <a:off x="3803904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FIFA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31536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F5D060"/>
          </a:solidFill>
          <a:ln/>
        </p:spPr>
      </p:sp>
      <p:sp>
        <p:nvSpPr>
          <p:cNvPr id="11" name="Text 9"/>
          <p:cNvSpPr/>
          <p:nvPr/>
        </p:nvSpPr>
        <p:spPr>
          <a:xfrm>
            <a:off x="5431536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clair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59168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1A7A3A"/>
          </a:solidFill>
          <a:ln/>
        </p:spPr>
      </p:sp>
      <p:sp>
        <p:nvSpPr>
          <p:cNvPr id="13" name="Text 11"/>
          <p:cNvSpPr/>
          <p:nvPr/>
        </p:nvSpPr>
        <p:spPr>
          <a:xfrm>
            <a:off x="7059168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 terrain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0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1FDB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 vif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314432" y="169164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E05050"/>
          </a:solidFill>
          <a:ln/>
        </p:spPr>
      </p:sp>
      <p:sp>
        <p:nvSpPr>
          <p:cNvPr id="17" name="Text 15"/>
          <p:cNvSpPr/>
          <p:nvPr/>
        </p:nvSpPr>
        <p:spPr>
          <a:xfrm>
            <a:off x="10314432" y="27432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live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246120"/>
            <a:ext cx="5394960" cy="2834640"/>
          </a:xfrm>
          <a:prstGeom prst="roundRect">
            <a:avLst>
              <a:gd name="adj" fmla="val 290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Typographies &amp; composants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: 1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286000" y="3977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Anton — scores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389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WORLD CUP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86000" y="44165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 — titres 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4754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F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57' · 18:00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0" y="4773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Mono — bandeau/horloge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46120"/>
            <a:ext cx="5394960" cy="2834640"/>
          </a:xfrm>
          <a:prstGeom prst="roundRect">
            <a:avLst>
              <a:gd name="adj" fmla="val 2903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9224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Cartes FUT (dégradés)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92240" y="3931920"/>
            <a:ext cx="1143000" cy="1645920"/>
          </a:xfrm>
          <a:prstGeom prst="roundRect">
            <a:avLst>
              <a:gd name="adj" fmla="val 9600"/>
            </a:avLst>
          </a:prstGeom>
          <a:solidFill>
            <a:srgbClr val="C9960A">
              <a:alpha val="60000"/>
            </a:srgbClr>
          </a:solidFill>
          <a:ln w="19050">
            <a:solidFill>
              <a:srgbClr val="C996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06908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92240" y="44348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92240" y="475488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772400" y="3931920"/>
            <a:ext cx="1143000" cy="1645920"/>
          </a:xfrm>
          <a:prstGeom prst="roundRect">
            <a:avLst>
              <a:gd name="adj" fmla="val 9600"/>
            </a:avLst>
          </a:prstGeom>
          <a:solidFill>
            <a:srgbClr val="9AA8B4">
              <a:alpha val="60000"/>
            </a:srgbClr>
          </a:solidFill>
          <a:ln w="19050">
            <a:solidFill>
              <a:srgbClr val="9AA8B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406908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4348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772400" y="475488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9052560" y="3931920"/>
            <a:ext cx="1143000" cy="1645920"/>
          </a:xfrm>
          <a:prstGeom prst="roundRect">
            <a:avLst>
              <a:gd name="adj" fmla="val 9600"/>
            </a:avLst>
          </a:prstGeom>
          <a:solidFill>
            <a:srgbClr val="1FDB5A">
              <a:alpha val="60000"/>
            </a:srgbClr>
          </a:solidFill>
          <a:ln w="19050">
            <a:solidFill>
              <a:srgbClr val="1FDB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52560" y="406908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52560" y="44348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052560" y="475488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0332720" y="3931920"/>
            <a:ext cx="1143000" cy="1645920"/>
          </a:xfrm>
          <a:prstGeom prst="roundRect">
            <a:avLst>
              <a:gd name="adj" fmla="val 9600"/>
            </a:avLst>
          </a:prstGeom>
          <a:solidFill>
            <a:srgbClr val="C07030">
              <a:alpha val="60000"/>
            </a:srgbClr>
          </a:solidFill>
          <a:ln w="19050">
            <a:solidFill>
              <a:srgbClr val="C0703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32720" y="406908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332720" y="44348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32720" y="475488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7 · GESTION DE PROJET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Méthodologie Agile/Scrum sur 3 jours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rgbClr val="FF2E6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conception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1089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besoins, cahiers des charges, UML, MERISE, charte graphique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920240"/>
            <a:ext cx="640080" cy="640080"/>
          </a:xfrm>
          <a:prstGeom prst="ellipse">
            <a:avLst/>
          </a:prstGeom>
          <a:solidFill>
            <a:srgbClr val="FF2E6E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97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31089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données, couche service, moteur temps réel, écrans front-end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955280" y="169164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920240"/>
            <a:ext cx="640080" cy="640080"/>
          </a:xfrm>
          <a:prstGeom prst="ellipse">
            <a:avLst/>
          </a:prstGeom>
          <a:solidFill>
            <a:srgbClr val="FF2E6E"/>
          </a:solidFill>
          <a:ln/>
        </p:spPr>
      </p:sp>
      <p:sp>
        <p:nvSpPr>
          <p:cNvPr id="16" name="Text 14"/>
          <p:cNvSpPr/>
          <p:nvPr/>
        </p:nvSpPr>
        <p:spPr>
          <a:xfrm>
            <a:off x="818388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83880" y="2697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Finalisation &amp;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83880" y="310896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Intégration, tests manuels, relecture, Kanban et README à jour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64240" cy="1828800"/>
          </a:xfrm>
          <a:prstGeom prst="roundRect">
            <a:avLst>
              <a:gd name="adj" fmla="val 4500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480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rôles complémentaires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946904"/>
            <a:ext cx="91440" cy="91440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481888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(analyse, cahiers des charges, UML/MERISE)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946904"/>
            <a:ext cx="91440" cy="91440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481888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logique (modèle, service, temps réel)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5449824"/>
            <a:ext cx="91440" cy="91440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3218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(composants, charte graphique)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63640" y="5449824"/>
            <a:ext cx="91440" cy="91440"/>
          </a:xfrm>
          <a:prstGeom prst="ellipse">
            <a:avLst/>
          </a:prstGeom>
          <a:solidFill>
            <a:srgbClr val="19E3D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53218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QA (coordination, tests, Kanban)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7 · SUIVI &amp; TRAÇABILITÉ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 Kanban &amp; dépôt Git</a:t>
            </a:r>
            <a:endParaRPr lang="en-US" sz="3000" dirty="0"/>
          </a:p>
        </p:txBody>
      </p:sp>
      <p:pic>
        <p:nvPicPr>
          <p:cNvPr id="4" name="Image 0" descr="/home/claude/pptx_assets/kanba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135" y="1554480"/>
            <a:ext cx="6957971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554480"/>
            <a:ext cx="3200400" cy="3977640"/>
          </a:xfrm>
          <a:prstGeom prst="roundRect">
            <a:avLst>
              <a:gd name="adj" fmla="val 2571"/>
            </a:avLst>
          </a:prstGeom>
          <a:solidFill>
            <a:srgbClr val="0C123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732520" y="178308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1883664"/>
            <a:ext cx="301752" cy="3017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32520" y="2423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Git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732520" y="283464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main stable et démontrable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branche par fonctionnalité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réguliers et explicites</a:t>
            </a: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documentant la structure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480560"/>
            <a:ext cx="3657600" cy="3657600"/>
          </a:xfrm>
          <a:prstGeom prst="ellipse">
            <a:avLst/>
          </a:prstGeom>
          <a:solidFill>
            <a:srgbClr val="FFC24B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9 · SÉCURITÉ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Prise en compte de la sécurité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208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 HTTPS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échanges de données chiffrés.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348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20208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Clés d'API non exposées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634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secret dans le code client.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3210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0208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496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données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5496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des données reçues avant affichage.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215384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772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Anti-XSS basique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772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d'injection HTML brute non filtrée.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4348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634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21538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634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propre des erreurs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6634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génériques, sans fuite d'information.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3210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4215384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5496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BDD (cible)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5496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paramétrées, droits limités, contraintes d'intégrité.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9 · QUALITÉ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et vérifications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842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5623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par phase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224028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correct sans rechargement complet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80760" y="16916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81928" y="189280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98424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85623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temps réel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903720" y="224028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et minute évoluent automatiquement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20040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40156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49300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36499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Classements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37490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conforme aux règles officielles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80760" y="320040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81928" y="340156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49300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336499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final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903720" y="37490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Libellés provisoires corrects pour équipes inconnues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08" y="491032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001768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487375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erreurs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37160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clair + option de relance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80760" y="470916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81928" y="4910328"/>
            <a:ext cx="457200" cy="457200"/>
          </a:xfrm>
          <a:prstGeom prst="ellipse">
            <a:avLst/>
          </a:prstGeom>
          <a:solidFill>
            <a:srgbClr val="E7F4EE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500176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4873752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mobile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90372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lisible sur petit écran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5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3657600" cy="3657600"/>
          </a:xfrm>
          <a:prstGeom prst="ellipse">
            <a:avLst/>
          </a:prstGeom>
          <a:solidFill>
            <a:srgbClr val="FF2E6E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10 · CONTRIBUTION INDIVIDUELLE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 rôle dans le projet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434840"/>
          </a:xfrm>
          <a:prstGeom prst="roundRect">
            <a:avLst>
              <a:gd name="adj" fmla="val 185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20240"/>
            <a:ext cx="594360" cy="59436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9933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Ryan CHAIBAT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23042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C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 Front-end &amp; Scrum Master / QA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8680" y="278892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front-end (composants, intégration des écrans, charte graphique FIFA)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de l'interface (zonings, wireframes, charte graphique)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place du pipeline DevOps (CI/CD, tests automatisés, Docker, déploiement Vercel)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Scrum Master : synchronisation quotidienne, suivi du Kanban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vérifications et cohérence finale avant livraison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897880" y="1691640"/>
            <a:ext cx="5715000" cy="4434840"/>
          </a:xfrm>
          <a:prstGeom prst="roundRect">
            <a:avLst>
              <a:gd name="adj" fmla="val 1856"/>
            </a:avLst>
          </a:prstGeom>
          <a:solidFill>
            <a:srgbClr val="1A2150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217920" y="190195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E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peux expliquer au jury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217920" y="237744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ces choix fonctionnels et techniques, et leurs alternatives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charte graphique et les composants traduisent la conception en interface réelle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le pipeline CI/CD empêche qu'un code cassé n'atteigne la production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Docker et Vercel sécurisent la mise en ligne (HTTPS, reproductibilité)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la gestion de projet a structuré le travail malgré le délai court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754880" cy="4754880"/>
          </a:xfrm>
          <a:prstGeom prst="ellipse">
            <a:avLst/>
          </a:prstGeom>
          <a:solidFill>
            <a:srgbClr val="FF2E6E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3840480"/>
            <a:ext cx="4389120" cy="4389120"/>
          </a:xfrm>
          <a:prstGeom prst="ellipse">
            <a:avLst/>
          </a:prstGeom>
          <a:solidFill>
            <a:srgbClr val="19E3D4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686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application cohérente, de l'analyse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mise en œuvre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12724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analysés et traduits en fonctionnalités priorisées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48640" y="3822192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1363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UML et MERISE cohérente avec l'application réelle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4535424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2686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4553712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fonctionnelle avec mise à jour en temps réel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548640" y="5248656"/>
            <a:ext cx="457200" cy="45720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340096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8720" y="5266944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de projet structurée malgré un délai de 3 jours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548640" y="6126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95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480560"/>
            <a:ext cx="3657600" cy="3657600"/>
          </a:xfrm>
          <a:prstGeom prst="ellipse">
            <a:avLst/>
          </a:prstGeom>
          <a:solidFill>
            <a:srgbClr val="FFC24B">
              <a:alpha val="1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8 · DEVOPS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1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Intégration continue (CI)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0208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 (GitHub Actions)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Lint, tests et build à chaque push et pull request.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348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4" y="20208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 (Vitest)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634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tests unitaires sur la logique métier, exécutés en continu.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321040" y="169164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9640" y="192024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224" y="20208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4964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de sécurité (npm audit)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549640" y="289864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dépendances à chaque build, non bloquant.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215384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772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772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hebdomadaires des dépendances npm et GitHub Actions.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4348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634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4024" y="421538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634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pre-commit (Husky)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6634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un commit si le code ne passe pas le lint (lint-staged).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321040" y="3886200"/>
            <a:ext cx="3657600" cy="1965960"/>
          </a:xfrm>
          <a:prstGeom prst="roundRect">
            <a:avLst>
              <a:gd name="adj" fmla="val 4186"/>
            </a:avLst>
          </a:prstGeom>
          <a:solidFill>
            <a:srgbClr val="121A3E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9640" y="4114800"/>
            <a:ext cx="502920" cy="502920"/>
          </a:xfrm>
          <a:prstGeom prst="ellipse">
            <a:avLst/>
          </a:prstGeom>
          <a:solidFill>
            <a:srgbClr val="1A2150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4215384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549640" y="4754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D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100 % vert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549640" y="5093208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push et pull requests validés avant fusion sur main.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2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8 · DEVOPS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Conteneurisation &amp; déploiement continu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1907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19656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257800" y="166420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Node puis service nginx : image identique partout.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77240" y="258775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688336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253288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257800" y="253288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local en une commande : docker compose up --build.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45643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355701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40156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(CD)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257800" y="340156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automatique à chaque push sur main, HTTPS natif.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32511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425696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270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Aperçus par pull request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257800" y="427024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 (dont Dependabot) génère un environnement isolé.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074920"/>
            <a:ext cx="1106424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5193792"/>
            <a:ext cx="502920" cy="502920"/>
          </a:xfrm>
          <a:prstGeom prst="ellipse">
            <a:avLst/>
          </a:prstGeom>
          <a:solidFill>
            <a:srgbClr val="EAF0F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5294376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513892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1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en ligne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257800" y="5138928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worldcup2026-two-eta.vercel.app — accessible sans installation.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1100023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Ryan Chaibat — M1-DI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Coupe du Monde FIFA 2026 — Soutenance individuelle</dc:title>
  <dc:subject>PptxGenJS Presentation</dc:subject>
  <dc:creator>Ryan Chaibat</dc:creator>
  <cp:lastModifiedBy>Ryan Chaibat</cp:lastModifiedBy>
  <cp:revision>1</cp:revision>
  <dcterms:created xsi:type="dcterms:W3CDTF">2026-06-19T07:28:50Z</dcterms:created>
  <dcterms:modified xsi:type="dcterms:W3CDTF">2026-06-19T07:28:50Z</dcterms:modified>
</cp:coreProperties>
</file>